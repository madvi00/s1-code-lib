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731520"/>
            <a:ext cx="4023360" cy="530352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828800"/>
            <a:ext cx="347472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D8FF"/>
                </a:solidFill>
                <a:latin typeface="Segoe UI"/>
                <a:ea typeface="Segoe UI"/>
              </a:rP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47472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제작 중심에서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743200"/>
            <a:ext cx="347472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운영 · 자산 중심으로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38160" y="3566160"/>
            <a:ext cx="14630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0" y="3703320"/>
            <a:ext cx="34747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C0D8FF"/>
                </a:solidFill>
                <a:latin typeface="맑은 고딕"/>
                <a:ea typeface="맑은 고딕"/>
              </a:rPr>
              <a:t>— 2026 UI 운영 전략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68580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6CEB"/>
                </a:solidFill>
                <a:latin typeface="Segoe UI"/>
                <a:ea typeface="Segoe UI"/>
              </a:rPr>
              <a:t>WORK ACHIEVEMENT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7040880" cy="9144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맑은 고딕"/>
                <a:ea typeface="맑은 고딕"/>
              </a:rPr>
              <a:t>에스원 UI 코드 라이브러리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704088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53535"/>
                </a:solidFill>
                <a:latin typeface="맑은 고딕"/>
                <a:ea typeface="맑은 고딕"/>
              </a:rPr>
              <a:t>구축 성과 보고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657600"/>
            <a:ext cx="1645920" cy="0"/>
          </a:xfrm>
          <a:prstGeom prst="line">
            <a:avLst/>
          </a:prstGeom>
          <a:ln w="3810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794760"/>
            <a:ext cx="68580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맑은 고딕"/>
                <a:ea typeface="맑은 고딕"/>
              </a:rPr>
              <a:t>전략 방향성 실행 결과 — PC · Mobile 통합 디자인 시스템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  <a:ea typeface="맑은 고딕"/>
              </a:rPr>
              <a:t>정다혜  |  2026.05.08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01.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맑은 고딕"/>
                <a:ea typeface="맑은 고딕"/>
              </a:rPr>
              <a:t>배경 — 이전 발표한 전략 방향성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  <a:ea typeface="맑은 고딕"/>
              </a:rPr>
              <a:t>"제작 중심에서 운영 · 자산 중심으로" 가 라이브러리 구축의 출발점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280160"/>
            <a:ext cx="1371600" cy="0"/>
          </a:xfrm>
          <a:prstGeom prst="line">
            <a:avLst/>
          </a:prstGeom>
          <a:ln w="317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26080" y="1801368"/>
            <a:ext cx="7132320" cy="0"/>
          </a:xfrm>
          <a:prstGeom prst="line">
            <a:avLst/>
          </a:prstGeom>
          <a:ln w="15875">
            <a:solidFill>
              <a:srgbClr val="C4C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94560" y="1554480"/>
            <a:ext cx="1463040" cy="502920"/>
          </a:xfrm>
          <a:prstGeom prst="roundRect">
            <a:avLst>
              <a:gd name="adj" fmla="val 40000"/>
            </a:avLst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14884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UI설계 · GUI · Figma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554480"/>
            <a:ext cx="1463040" cy="502920"/>
          </a:xfrm>
          <a:prstGeom prst="roundRect">
            <a:avLst>
              <a:gd name="adj" fmla="val 40000"/>
            </a:avLst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퍼블리싱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14884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화면 구현 · HTML/CSS/JS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554480"/>
            <a:ext cx="1463040" cy="502920"/>
          </a:xfrm>
          <a:prstGeom prst="roundRect">
            <a:avLst>
              <a:gd name="adj" fmla="val 40000"/>
            </a:avLst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로직 구현 · JS /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234440"/>
            <a:ext cx="14630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D6CEB"/>
                </a:solidFill>
                <a:latin typeface="맑은 고딕"/>
                <a:ea typeface="맑은 고딕"/>
              </a:rPr>
              <a:t>★ 핵심 영역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5486400" cy="1691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834640"/>
            <a:ext cx="73152" cy="1691640"/>
          </a:xfrm>
          <a:prstGeom prst="rect">
            <a:avLst/>
          </a:prstGeom>
          <a:solidFill>
            <a:srgbClr val="55555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07792"/>
            <a:ext cx="51206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46120"/>
            <a:ext cx="51206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외주 의존적 구조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웹 중심의 서비스 고도화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협업 프로세스 단절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내부 관리 인력 부재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34640"/>
            <a:ext cx="5486400" cy="1691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834640"/>
            <a:ext cx="73152" cy="169164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1206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개선 방향(전략)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46120"/>
            <a:ext cx="51206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운영 · 자산관리 중심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전문 인력 내재화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UI 자산화 및 재사용성 극대화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AI 활용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09160"/>
            <a:ext cx="5486400" cy="1691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73152" cy="1691640"/>
          </a:xfrm>
          <a:prstGeom prst="rect">
            <a:avLst/>
          </a:prstGeom>
          <a:solidFill>
            <a:srgbClr val="55555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82312"/>
            <a:ext cx="51206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현안 (문제점)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1206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유지보수 대응력 저하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UI 품질 불일치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</a:rPr>
              <a:t>•  </a:t>
            </a: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자산화 부재로 코드 재사용 불가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업무 이해도 약화 → 커뮤니케이션 간극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09160"/>
            <a:ext cx="5486400" cy="16916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709160"/>
            <a:ext cx="73152" cy="169164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782312"/>
            <a:ext cx="51206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기대효과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120640"/>
            <a:ext cx="51206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서비스 품질 및 UI/UX 일관성 확보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단순 UI 수정의 외주 비용 최소화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자체대응으로 개발공수 단축</a:t>
            </a:r>
          </a:p>
          <a:p>
            <a:pPr>
              <a:lnSpc>
                <a:spcPct val="12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내부 기술 자산 축적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263640" y="3611880"/>
            <a:ext cx="164592" cy="457200"/>
          </a:xfrm>
          <a:prstGeom prst="rightArrow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02. 결과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맑은 고딕"/>
                <a:ea typeface="맑은 고딕"/>
              </a:rPr>
              <a:t>구축 완료 — 핵심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  <a:ea typeface="맑은 고딕"/>
              </a:rPr>
              <a:t>전략의 핵심인 "UI 자산화" 를 4가지 지표로 즉시 확인 가능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280160"/>
            <a:ext cx="1371600" cy="0"/>
          </a:xfrm>
          <a:prstGeom prst="line">
            <a:avLst/>
          </a:prstGeom>
          <a:ln w="317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3999" y="182880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3999" y="1828800"/>
            <a:ext cx="2697480" cy="109728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999" y="2240280"/>
            <a:ext cx="269748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D6CEB"/>
                </a:solidFill>
                <a:latin typeface="맑은 고딕"/>
                <a:ea typeface="맑은 고딕"/>
              </a:rPr>
              <a:t>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" y="3291840"/>
            <a:ext cx="2697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맑은 고딕"/>
                <a:ea typeface="맑은 고딕"/>
              </a:rPr>
              <a:t>컴포넌트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99" y="3657600"/>
            <a:ext cx="2697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PC 15 + Mobile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071" y="182880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6071" y="1828800"/>
            <a:ext cx="2697480" cy="109728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6071" y="2240280"/>
            <a:ext cx="269748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D6CEB"/>
                </a:solidFill>
                <a:latin typeface="맑은 고딕"/>
                <a:ea typeface="맑은 고딕"/>
              </a:rPr>
              <a:t>488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6071" y="3291840"/>
            <a:ext cx="2697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맑은 고딕"/>
                <a:ea typeface="맑은 고딕"/>
              </a:rPr>
              <a:t>디자인 토큰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6071" y="3657600"/>
            <a:ext cx="2697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Foundation · Semantic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8143" y="182880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8143" y="1828800"/>
            <a:ext cx="2697480" cy="109728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8143" y="2240280"/>
            <a:ext cx="269748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D6CEB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8143" y="3291840"/>
            <a:ext cx="2697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맑은 고딕"/>
                <a:ea typeface="맑은 고딕"/>
              </a:rPr>
              <a:t>프레임워크 의존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8143" y="3657600"/>
            <a:ext cx="2697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순수 HTML / CSS / 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0215" y="1828800"/>
            <a:ext cx="2697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0215" y="1828800"/>
            <a:ext cx="2697480" cy="109728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0215" y="2240280"/>
            <a:ext cx="269748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D6CEB"/>
                </a:solidFill>
                <a:latin typeface="맑은 고딕"/>
                <a:ea typeface="맑은 고딕"/>
              </a:rPr>
              <a:t>1-Click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0215" y="3291840"/>
            <a:ext cx="2697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맑은 고딕"/>
                <a:ea typeface="맑은 고딕"/>
              </a:rPr>
              <a:t>자산 다운로드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0215" y="3657600"/>
            <a:ext cx="2697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assets.zip 즉시 사용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72000"/>
            <a:ext cx="10908792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736592"/>
            <a:ext cx="100584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6CEB"/>
                </a:solidFill>
                <a:latin typeface="맑은 고딕"/>
                <a:ea typeface="맑은 고딕"/>
              </a:rPr>
              <a:t>한 줄 요약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74920"/>
            <a:ext cx="1042416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  <a:ea typeface="맑은 고딕"/>
              </a:rPr>
              <a:t>디자인 토큰 → 컴포넌트 → 페이지 가이드를 한 곳에서 제공하는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6CEB"/>
                </a:solidFill>
                <a:latin typeface="맑은 고딕"/>
                <a:ea typeface="맑은 고딕"/>
              </a:rPr>
              <a:t>에스원 자체 디자인 시스템 라이브러리를 무프레임워크 환경에서 완성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03.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맑은 고딕"/>
                <a:ea typeface="맑은 고딕"/>
              </a:rPr>
              <a:t>시스템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  <a:ea typeface="맑은 고딕"/>
              </a:rPr>
              <a:t>4개 계층의 자산이 라이브러리 페이지를 통해 사용자에게 제공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280160"/>
            <a:ext cx="1371600" cy="0"/>
          </a:xfrm>
          <a:prstGeom prst="line">
            <a:avLst/>
          </a:prstGeom>
          <a:ln w="317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1691640"/>
            <a:ext cx="6766560" cy="86868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01368"/>
            <a:ext cx="6400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Library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6400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5EEFD"/>
                </a:solidFill>
                <a:latin typeface="맑은 고딕"/>
                <a:ea typeface="맑은 고딕"/>
              </a:rPr>
              <a:t>index.html · 라이브 미리보기 + 코드 스니펫 + 가이드라인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670048"/>
            <a:ext cx="5943600" cy="868680"/>
          </a:xfrm>
          <a:prstGeom prst="rect">
            <a:avLst/>
          </a:prstGeom>
          <a:solidFill>
            <a:srgbClr val="144FB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779776"/>
            <a:ext cx="55778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27248"/>
            <a:ext cx="55778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5E5E5"/>
                </a:solidFill>
                <a:latin typeface="맑은 고딕"/>
                <a:ea typeface="맑은 고딕"/>
              </a:rPr>
              <a:t>33개 (PC 15 + Mobile 18) · layouts/ 단독 미리보기 페이지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648456"/>
            <a:ext cx="5120640" cy="86868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758184"/>
            <a:ext cx="47548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Semantic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105656"/>
            <a:ext cx="47548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5E5E5"/>
                </a:solidFill>
                <a:latin typeface="맑은 고딕"/>
                <a:ea typeface="맑은 고딕"/>
              </a:rPr>
              <a:t>control · surface · text · chip · form ... 의미 단위 토큰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20" y="4626864"/>
            <a:ext cx="4297680" cy="868680"/>
          </a:xfrm>
          <a:prstGeom prst="rect">
            <a:avLst/>
          </a:prstGeom>
          <a:solidFill>
            <a:srgbClr val="55555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4736592"/>
            <a:ext cx="39319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Foundation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084064"/>
            <a:ext cx="39319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5E5E5"/>
                </a:solidFill>
                <a:latin typeface="맑은 고딕"/>
                <a:ea typeface="맑은 고딕"/>
              </a:rPr>
              <a:t>color · spacing · typography · radius · shadow 원자 단위 토큰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691640"/>
            <a:ext cx="3657600" cy="40690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856232"/>
            <a:ext cx="32004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6CEB"/>
                </a:solidFill>
                <a:latin typeface="맑은 고딕"/>
                <a:ea typeface="맑은 고딕"/>
              </a:rPr>
              <a:t>데이터 흐름</a:t>
            </a:r>
          </a:p>
        </p:txBody>
      </p:sp>
      <p:sp>
        <p:nvSpPr>
          <p:cNvPr id="24" name="Oval 23"/>
          <p:cNvSpPr/>
          <p:nvPr/>
        </p:nvSpPr>
        <p:spPr>
          <a:xfrm>
            <a:off x="8092440" y="2240280"/>
            <a:ext cx="457200" cy="457200"/>
          </a:xfrm>
          <a:prstGeom prst="ellipse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240280"/>
            <a:ext cx="2651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Foundation 토큰 정의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487168"/>
            <a:ext cx="2651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  <a:latin typeface="맑은 고딕"/>
                <a:ea typeface="맑은 고딕"/>
              </a:rPr>
              <a:t>CSS 변수로 원자값 선언</a:t>
            </a:r>
          </a:p>
        </p:txBody>
      </p:sp>
      <p:sp>
        <p:nvSpPr>
          <p:cNvPr id="27" name="Oval 26"/>
          <p:cNvSpPr/>
          <p:nvPr/>
        </p:nvSpPr>
        <p:spPr>
          <a:xfrm>
            <a:off x="8092440" y="3108960"/>
            <a:ext cx="457200" cy="457200"/>
          </a:xfrm>
          <a:prstGeom prst="ellipse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108960"/>
            <a:ext cx="2651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Semantic 토큰 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355848"/>
            <a:ext cx="2651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  <a:latin typeface="맑은 고딕"/>
                <a:ea typeface="맑은 고딕"/>
              </a:rPr>
              <a:t>의미 단위로 Foundation 참조</a:t>
            </a:r>
          </a:p>
        </p:txBody>
      </p:sp>
      <p:sp>
        <p:nvSpPr>
          <p:cNvPr id="30" name="Oval 29"/>
          <p:cNvSpPr/>
          <p:nvPr/>
        </p:nvSpPr>
        <p:spPr>
          <a:xfrm>
            <a:off x="8092440" y="3977640"/>
            <a:ext cx="457200" cy="457200"/>
          </a:xfrm>
          <a:prstGeom prst="ellipse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977640"/>
            <a:ext cx="2651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컴포넌트 스타일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224528"/>
            <a:ext cx="2651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  <a:latin typeface="맑은 고딕"/>
                <a:ea typeface="맑은 고딕"/>
              </a:rPr>
              <a:t>Semantic 토큰만 사용</a:t>
            </a:r>
          </a:p>
        </p:txBody>
      </p:sp>
      <p:sp>
        <p:nvSpPr>
          <p:cNvPr id="33" name="Oval 32"/>
          <p:cNvSpPr/>
          <p:nvPr/>
        </p:nvSpPr>
        <p:spPr>
          <a:xfrm>
            <a:off x="8092440" y="4846320"/>
            <a:ext cx="457200" cy="457200"/>
          </a:xfrm>
          <a:prstGeom prst="ellipse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846320"/>
            <a:ext cx="2651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페이지 결합 / 가이드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5093208"/>
            <a:ext cx="2651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57575"/>
                </a:solidFill>
                <a:latin typeface="맑은 고딕"/>
                <a:ea typeface="맑은 고딕"/>
              </a:rPr>
              <a:t>iframe 미리보기 + 스니펫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04. 디자인 토큰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맑은 고딕"/>
                <a:ea typeface="맑은 고딕"/>
              </a:rPr>
              <a:t>디자인 토큰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  <a:ea typeface="맑은 고딕"/>
              </a:rPr>
              <a:t>Foundation → Semantic 2단 구조 · 488개 변수로 일관성 확보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280160"/>
            <a:ext cx="1371600" cy="0"/>
          </a:xfrm>
          <a:prstGeom prst="line">
            <a:avLst/>
          </a:prstGeom>
          <a:ln w="317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1691640"/>
            <a:ext cx="58521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920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5303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  <a:ea typeface="맑은 고딕"/>
              </a:rPr>
              <a:t>원자 단위 (raw value)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530352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  <a:ea typeface="맑은 고딕"/>
              </a:rPr>
              <a:t>Color · Spacing · Typography · Radius · Border · Shadow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5303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onsolas"/>
                <a:ea typeface="Consolas"/>
              </a:rPr>
              <a:t>예) --foundation-border-width-100 : 1px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383280" y="3474720"/>
            <a:ext cx="365760" cy="365760"/>
          </a:xfrm>
          <a:prstGeom prst="downArrow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5852160" cy="1691640"/>
          </a:xfrm>
          <a:prstGeom prst="rect">
            <a:avLst/>
          </a:prstGeom>
          <a:solidFill>
            <a:srgbClr val="E9F1FE"/>
          </a:solidFill>
          <a:ln w="12700">
            <a:solidFill>
              <a:srgbClr val="1D6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1605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SEMANTIC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5303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4FB0"/>
                </a:solidFill>
                <a:latin typeface="맑은 고딕"/>
                <a:ea typeface="맑은 고딕"/>
              </a:rPr>
              <a:t>의미 단위 (purpose)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530352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  <a:ea typeface="맑은 고딕"/>
              </a:rPr>
              <a:t>control · surface · text · chip · form-control · button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5303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44FB0"/>
                </a:solidFill>
                <a:latin typeface="Consolas"/>
                <a:ea typeface="Consolas"/>
              </a:rPr>
              <a:t>예) --semantic-color-chip-line-border : var(--gray-300)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691640"/>
            <a:ext cx="4617720" cy="310896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1856232"/>
            <a:ext cx="42519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D8FF"/>
                </a:solidFill>
                <a:latin typeface="Consolas"/>
                <a:ea typeface="Consolas"/>
              </a:rPr>
              <a:t>variables.css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194560"/>
            <a:ext cx="42519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C0D8FF"/>
                </a:solidFill>
                <a:latin typeface="Consolas"/>
                <a:ea typeface="Consolas"/>
              </a:rPr>
              <a:t>:root {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757575"/>
                </a:solidFill>
                <a:latin typeface="Consolas"/>
                <a:ea typeface="Consolas"/>
              </a:rPr>
              <a:t>  /* Foundation */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Consolas"/>
                <a:ea typeface="Consolas"/>
              </a:rPr>
              <a:t>  --foundation-color-primary-500: #1d6ceb;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Consolas"/>
                <a:ea typeface="Consolas"/>
              </a:rPr>
              <a:t>  --foundation-spacing-4:        16px;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Consolas"/>
                <a:ea typeface="Consolas"/>
              </a:rPr>
              <a:t>  --foundation-border-width-100: 1px;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757575"/>
                </a:solidFill>
                <a:latin typeface="Consolas"/>
                <a:ea typeface="Consolas"/>
              </a:rPr>
              <a:t>  /* Semantic — Foundation 참조 */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Consolas"/>
                <a:ea typeface="Consolas"/>
              </a:rPr>
              <a:t>  --semantic-color-control-active: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9DCBFF"/>
                </a:solidFill>
                <a:latin typeface="Consolas"/>
                <a:ea typeface="Consolas"/>
              </a:rPr>
              <a:t>      var(--foundation-color-primary-500);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Consolas"/>
                <a:ea typeface="Consolas"/>
              </a:rPr>
              <a:t>  --semantic-spacing-padding-inline: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9DCBFF"/>
                </a:solidFill>
                <a:latin typeface="Consolas"/>
                <a:ea typeface="Consolas"/>
              </a:rPr>
              <a:t>      var(--foundation-spacing-4);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0D8FF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74920"/>
            <a:ext cx="10908792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93792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6CEB"/>
                </a:solidFill>
                <a:latin typeface="맑은 고딕"/>
                <a:ea typeface="맑은 고딕"/>
              </a:rPr>
              <a:t>핵심 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58968"/>
            <a:ext cx="10515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53535"/>
                </a:solidFill>
                <a:latin typeface="맑은 고딕"/>
                <a:ea typeface="맑은 고딕"/>
              </a:rPr>
              <a:t>Foundation 한 값만 변경 → 모든 컴포넌트가 자동 갱신 · 브랜드 리뉴얼/다크모드 등 확장에도 단일 소스로 대응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05. 컴포넌트 카탈로그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맑은 고딕"/>
                <a:ea typeface="맑은 고딕"/>
              </a:rPr>
              <a:t>컴포넌트 카탈로그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  <a:ea typeface="맑은 고딕"/>
              </a:rPr>
              <a:t>환경별 분리 제공 · 각 컴포넌트는 독립 미리보기 + 스니펫 + 가이드라인 보유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280160"/>
            <a:ext cx="1371600" cy="0"/>
          </a:xfrm>
          <a:prstGeom prst="line">
            <a:avLst/>
          </a:prstGeom>
          <a:ln w="317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55321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5532120" cy="64008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01368"/>
            <a:ext cx="4983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75688"/>
            <a:ext cx="4983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4C4C4"/>
                </a:solidFill>
                <a:latin typeface="맑은 고딕"/>
                <a:ea typeface="맑은 고딕"/>
              </a:rPr>
              <a:t>15 components · 데스크톱 · 1280px+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468880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532888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Badge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7920" y="2468880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07920" y="2468880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2512" y="2532888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Button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4320" y="2468880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84320" y="2468880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8912" y="2532888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Checkbox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07792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907792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2971800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Datepicker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07920" y="2907792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07920" y="2907792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72512" y="2971800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Dropdown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84320" y="2907792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84320" y="2907792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8912" y="2971800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Filter Chip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346704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346704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3410712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Input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07920" y="3346704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07920" y="3346704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72512" y="3410712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Loading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84320" y="3346704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84320" y="3346704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48912" y="3410712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Modal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785616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785616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3849624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Radio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07920" y="3785616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07920" y="3785616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72512" y="3849624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Range TimePicker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84320" y="3785616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84320" y="3785616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48912" y="3849624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Accordion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224528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4224528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" y="4288536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Tab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07920" y="4224528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07920" y="4224528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72512" y="4288536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Time Picker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84320" y="4224528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84320" y="4224528"/>
            <a:ext cx="54864" cy="365760"/>
          </a:xfrm>
          <a:prstGeom prst="rect">
            <a:avLst/>
          </a:prstGeom>
          <a:solidFill>
            <a:srgbClr val="35353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48912" y="4288536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Weather Widget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9632" y="1691640"/>
            <a:ext cx="55321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99632" y="1691640"/>
            <a:ext cx="5532120" cy="64008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3952" y="1801368"/>
            <a:ext cx="49834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Mobile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3952" y="2075688"/>
            <a:ext cx="4983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0D8FF"/>
                </a:solidFill>
                <a:latin typeface="맑은 고딕"/>
                <a:ea typeface="맑은 고딕"/>
              </a:rPr>
              <a:t>18 components · 360px 기준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73952" y="2468880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73952" y="2468880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38544" y="2532888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Badge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50352" y="2468880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50352" y="2468880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14944" y="2532888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Button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26752" y="2468880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26752" y="2468880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91344" y="2532888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Checkbox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73952" y="2907792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3952" y="2907792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38544" y="2971800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Datepicker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50352" y="2907792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50352" y="2907792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14944" y="2971800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Dropdown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26752" y="2907792"/>
            <a:ext cx="1630680" cy="365760"/>
          </a:xfrm>
          <a:prstGeom prst="rect">
            <a:avLst/>
          </a:prstGeom>
          <a:solidFill>
            <a:srgbClr val="E9F1FE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826752" y="2907792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91344" y="2971800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4FB0"/>
                </a:solidFill>
                <a:latin typeface="맑은 고딕"/>
                <a:ea typeface="맑은 고딕"/>
              </a:rPr>
              <a:t>Dropdown Type Label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73952" y="3346704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73952" y="3346704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38544" y="3410712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Filter Chip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50352" y="3346704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50352" y="3346704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14944" y="3410712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Input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826752" y="3346704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826752" y="3346704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91344" y="3410712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Loading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73952" y="3785616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73952" y="3785616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638544" y="3849624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Modal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50352" y="3785616"/>
            <a:ext cx="1630680" cy="365760"/>
          </a:xfrm>
          <a:prstGeom prst="rect">
            <a:avLst/>
          </a:prstGeom>
          <a:solidFill>
            <a:srgbClr val="E9F1FE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50352" y="3785616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314944" y="3849624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4FB0"/>
                </a:solidFill>
                <a:latin typeface="맑은 고딕"/>
                <a:ea typeface="맑은 고딕"/>
              </a:rPr>
              <a:t>Multi Dropdown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26752" y="3785616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826752" y="3785616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991344" y="3849624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Radio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73952" y="4224528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73952" y="4224528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38544" y="4288536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Range Time Picker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50352" y="4224528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150352" y="4224528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14944" y="4288536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Accordion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826752" y="4224528"/>
            <a:ext cx="1630680" cy="365760"/>
          </a:xfrm>
          <a:prstGeom prst="rect">
            <a:avLst/>
          </a:prstGeom>
          <a:solidFill>
            <a:srgbClr val="E9F1FE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826752" y="4224528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991344" y="4288536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4FB0"/>
                </a:solidFill>
                <a:latin typeface="맑은 고딕"/>
                <a:ea typeface="맑은 고딕"/>
              </a:rPr>
              <a:t>Switch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73952" y="4663440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73952" y="4663440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638544" y="4727448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Underline Tab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50352" y="4663440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150352" y="4663440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314944" y="4727448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Time Picker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826752" y="4663440"/>
            <a:ext cx="1630680" cy="36576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6752" y="4663440"/>
            <a:ext cx="54864" cy="36576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991344" y="4727448"/>
            <a:ext cx="14020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53535"/>
                </a:solidFill>
                <a:latin typeface="맑은 고딕"/>
                <a:ea typeface="맑은 고딕"/>
              </a:rPr>
              <a:t>Weather Widget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* Mobile 전용 컴포넌트   ·   각 컴포넌트는 layouts/general_pc 또는 layouts/general_mobile 하위에 단독 페이지로 제공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06. 페이지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맑은 고딕"/>
                <a:ea typeface="맑은 고딕"/>
              </a:rPr>
              <a:t>라이브러리 페이지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  <a:ea typeface="맑은 고딕"/>
              </a:rPr>
              <a:t>컴포넌트마다 "보고 → 복사 → 따라하기" 의 3단계 사용 흐름 제공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280160"/>
            <a:ext cx="1371600" cy="0"/>
          </a:xfrm>
          <a:prstGeom prst="line">
            <a:avLst/>
          </a:prstGeom>
          <a:ln w="317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3721608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21608" cy="73152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1371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D6CEB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172968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맑은 고딕"/>
                <a:ea typeface="맑은 고딕"/>
              </a:rPr>
              <a:t>라이브 미리보기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3172968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  <a:ea typeface="맑은 고딕"/>
              </a:rPr>
              <a:t>iframe 으로 실제 동작하는 컴포넌트를 즉시 확인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703320"/>
            <a:ext cx="3172968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840480"/>
            <a:ext cx="3172968" cy="20116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실제 인터랙션 (드롭다운 열기 · 선택 · disabled) 검증</a:t>
            </a:r>
          </a:p>
          <a:p>
            <a:pPr>
              <a:lnSpc>
                <a:spcPct val="13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독립 페이지로 외부 영향 없이 렌더링</a:t>
            </a:r>
          </a:p>
          <a:p>
            <a:pPr>
              <a:lnSpc>
                <a:spcPct val="13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디자인-개발 동일 환경에서 결과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691640"/>
            <a:ext cx="3721608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691640"/>
            <a:ext cx="3721608" cy="73152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965960"/>
            <a:ext cx="1371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D6CEB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560320"/>
            <a:ext cx="3172968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맑은 고딕"/>
                <a:ea typeface="맑은 고딕"/>
              </a:rPr>
              <a:t>코드 스니펫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017520"/>
            <a:ext cx="3172968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  <a:ea typeface="맑은 고딕"/>
              </a:rPr>
              <a:t>카테고리별 탭 + 한 번에 복사 가능한 HTML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17720" y="3703320"/>
            <a:ext cx="3172968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17720" y="3840480"/>
            <a:ext cx="3172968" cy="20116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Medium / Small / + Prefix 등 변형별 탭 분리</a:t>
            </a:r>
          </a:p>
          <a:p>
            <a:pPr>
              <a:lnSpc>
                <a:spcPct val="13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Copy 버튼으로 마크업 즉시 복사</a:t>
            </a:r>
          </a:p>
          <a:p>
            <a:pPr>
              <a:lnSpc>
                <a:spcPct val="13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주요 옵션은 코멘트로 안내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691640"/>
            <a:ext cx="3721608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691640"/>
            <a:ext cx="3721608" cy="73152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965960"/>
            <a:ext cx="1371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D6CEB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560320"/>
            <a:ext cx="3172968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맑은 고딕"/>
                <a:ea typeface="맑은 고딕"/>
              </a:rPr>
              <a:t>사용 가이드라인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017520"/>
            <a:ext cx="3172968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맑은 고딕"/>
                <a:ea typeface="맑은 고딕"/>
              </a:rPr>
              <a:t>Do's &amp; Don'ts · 색상 · 간격 · 접근성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03920" y="3703320"/>
            <a:ext cx="3172968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03920" y="3840480"/>
            <a:ext cx="3172968" cy="20116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올바른 사용 예 / 잘못된 사용 예 시각화</a:t>
            </a:r>
          </a:p>
          <a:p>
            <a:pPr>
              <a:lnSpc>
                <a:spcPct val="13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색상 토큰별 사용 기준 명시</a:t>
            </a:r>
          </a:p>
          <a:p>
            <a:pPr>
              <a:lnSpc>
                <a:spcPct val="135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WAI-ARIA · 콘트라스트 4.5:1 가이드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맑은 고딕"/>
                <a:ea typeface="맑은 고딕"/>
              </a:rPr>
              <a:t>디자인 의도가 그대로 코드까지 전달되는 단일 인터페이스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07. 퍼블리싱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맑은 고딕"/>
                <a:ea typeface="맑은 고딕"/>
              </a:rPr>
              <a:t>퍼블리싱 가이드 / 표준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  <a:ea typeface="맑은 고딕"/>
              </a:rPr>
              <a:t>환경 · 코드 · 접근성 — 모든 서비스 프로젝트에 일괄 적용 가능한 공통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280160"/>
            <a:ext cx="1371600" cy="0"/>
          </a:xfrm>
          <a:prstGeom prst="line">
            <a:avLst/>
          </a:prstGeom>
          <a:ln w="317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5532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91440" cy="214884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50749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  <a:ea typeface="맑은 고딕"/>
              </a:rPr>
              <a:t>기본 환경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50749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맑은 고딕"/>
                <a:ea typeface="맑은 고딕"/>
              </a:rPr>
              <a:t>문서 표준 / 인코딩 / 들여쓰기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24328"/>
            <a:ext cx="5074920" cy="1143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HTML5 · CSS3 표준 준수</a:t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UTF-8 (BOM 없음) · LF 줄 끝</a:t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공백 2칸 들여쓰기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691640"/>
            <a:ext cx="5532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691640"/>
            <a:ext cx="91440" cy="214884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828800"/>
            <a:ext cx="50749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  <a:ea typeface="맑은 고딕"/>
              </a:rPr>
              <a:t>브라우저 · 기기 호환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194560"/>
            <a:ext cx="50749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맑은 고딕"/>
                <a:ea typeface="맑은 고딕"/>
              </a:rPr>
              <a:t>주요 브라우저 최신 2개 메이저 버전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624328"/>
            <a:ext cx="5074920" cy="1143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Chrome / Edge / Safari / Firefox</a:t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iOS · Android 각 OS 최신 2개 버전</a:t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IE 미지원 (모던 환경 전용)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5532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91440" cy="214884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50749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  <a:ea typeface="맑은 고딕"/>
              </a:rPr>
              <a:t>해상도 · 레이아웃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50749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맑은 고딕"/>
                <a:ea typeface="맑은 고딕"/>
              </a:rPr>
              <a:t>PC 데스크톱 · Mobile 디바이스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56048"/>
            <a:ext cx="5074920" cy="1143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PC : 1280px 기준 · 1440px 권장</a:t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Mobile : 360px 기준 (320 / 430 옵션)</a:t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프로젝트 착수 시 디자인팀과 협의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4023360"/>
            <a:ext cx="5532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4023360"/>
            <a:ext cx="91440" cy="214884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160520"/>
            <a:ext cx="50749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  <a:ea typeface="맑은 고딕"/>
              </a:rPr>
              <a:t>WAI-ARIA 접근성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526280"/>
            <a:ext cx="50749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맑은 고딕"/>
                <a:ea typeface="맑은 고딕"/>
              </a:rPr>
              <a:t>시각 · 키보드 · 스크린리더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956048"/>
            <a:ext cx="5074920" cy="11430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콘트라스트 4.5 : 1 이상 (대형 3 : 1)</a:t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키보드 포커스 인디케이터 보장</a:t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1D6CEB"/>
                </a:solidFill>
                <a:latin typeface="맑은 고딕"/>
                <a:ea typeface="맑은 고딕"/>
              </a:rPr>
              <a:t>•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</a:rPr>
              <a:t>aria-label · role 등 의미 태깅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※ 라이브러리 페이지 내 [퍼블리싱 가이드] 탭에서 항상 최신 기준 확인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08. 전략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맑은 고딕"/>
                <a:ea typeface="맑은 고딕"/>
              </a:rPr>
              <a:t>전략 → 실행 결과 매핑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  <a:ea typeface="맑은 고딕"/>
              </a:rPr>
              <a:t>이전 발표한 4가지 전략 방향이 라이브러리 어디에 어떻게 구현되었는가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280160"/>
            <a:ext cx="1371600" cy="0"/>
          </a:xfrm>
          <a:prstGeom prst="line">
            <a:avLst/>
          </a:prstGeom>
          <a:ln w="317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11274552" cy="50292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1089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전략 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810512"/>
            <a:ext cx="31089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실행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810512"/>
            <a:ext cx="44805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구현 상세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11274552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59152"/>
            <a:ext cx="31089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4FB0"/>
                </a:solidFill>
                <a:latin typeface="맑은 고딕"/>
                <a:ea typeface="맑은 고딕"/>
              </a:rPr>
              <a:t>운영 · 자산관리 중심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359152"/>
            <a:ext cx="320040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맑은 고딕"/>
                <a:ea typeface="맑은 고딕"/>
              </a:rPr>
              <a:t>라이브러리 페이지 + assets.zip 운영 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359152"/>
            <a:ext cx="448056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맑은 고딕"/>
                <a:ea typeface="맑은 고딕"/>
              </a:rPr>
              <a:t>단일 index.html 진입점 · 자산 일괄 다운로드 · 변경 시 zip 재생성 운영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94560"/>
            <a:ext cx="73152" cy="960120"/>
          </a:xfrm>
          <a:prstGeom prst="rect">
            <a:avLst/>
          </a:prstGeom>
          <a:solidFill>
            <a:srgbClr val="75757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11274552" cy="96012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19272"/>
            <a:ext cx="31089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4FB0"/>
                </a:solidFill>
                <a:latin typeface="맑은 고딕"/>
                <a:ea typeface="맑은 고딕"/>
              </a:rPr>
              <a:t>전문 인력 내재화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319272"/>
            <a:ext cx="320040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맑은 고딕"/>
                <a:ea typeface="맑은 고딕"/>
              </a:rPr>
              <a:t>내부 자체 구축 · 외주 단절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319272"/>
            <a:ext cx="448056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맑은 고딕"/>
                <a:ea typeface="맑은 고딕"/>
              </a:rPr>
              <a:t>디자인 토큰 · CSS · JS · HTML 마크업 전 영역 자체 작성 · 유지보수 가능 구조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54680"/>
            <a:ext cx="73152" cy="960120"/>
          </a:xfrm>
          <a:prstGeom prst="rect">
            <a:avLst/>
          </a:prstGeom>
          <a:solidFill>
            <a:srgbClr val="75757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11274552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79392"/>
            <a:ext cx="31089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4FB0"/>
                </a:solidFill>
                <a:latin typeface="맑은 고딕"/>
                <a:ea typeface="맑은 고딕"/>
              </a:rPr>
              <a:t>UI 자산화 및 재사용성 극대화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279392"/>
            <a:ext cx="320040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맑은 고딕"/>
                <a:ea typeface="맑은 고딕"/>
              </a:rPr>
              <a:t>33개 컴포넌트 · 488개 토큰 · 가이드라인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279392"/>
            <a:ext cx="448056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맑은 고딕"/>
                <a:ea typeface="맑은 고딕"/>
              </a:rPr>
              <a:t>복사-붙여넣기 가능한 스니펫 · Foundation→Semantic 2단 토큰으로 재사용성 극대화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73152" cy="960120"/>
          </a:xfrm>
          <a:prstGeom prst="rect">
            <a:avLst/>
          </a:prstGeom>
          <a:solidFill>
            <a:srgbClr val="75757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074920"/>
            <a:ext cx="11274552" cy="960120"/>
          </a:xfrm>
          <a:prstGeom prst="rect">
            <a:avLst/>
          </a:prstGeom>
          <a:solidFill>
            <a:srgbClr val="FAFAFA"/>
          </a:solidFill>
          <a:ln w="508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39512"/>
            <a:ext cx="31089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4FB0"/>
                </a:solidFill>
                <a:latin typeface="맑은 고딕"/>
                <a:ea typeface="맑은 고딕"/>
              </a:rPr>
              <a:t>AI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239512"/>
            <a:ext cx="320040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맑은 고딕"/>
                <a:ea typeface="맑은 고딕"/>
              </a:rPr>
              <a:t>AI 보조 도구 활용한 라이브러리 구축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5239512"/>
            <a:ext cx="448056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맑은 고딕"/>
                <a:ea typeface="맑은 고딕"/>
              </a:rPr>
              <a:t>Claude Code 기반 컴포넌트 생성 · 코드 리뷰 · 문서 자동화 등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74920"/>
            <a:ext cx="73152" cy="960120"/>
          </a:xfrm>
          <a:prstGeom prst="rect">
            <a:avLst/>
          </a:prstGeom>
          <a:solidFill>
            <a:srgbClr val="75757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0800"/>
          </a:xfrm>
          <a:prstGeom prst="rect">
            <a:avLst/>
          </a:prstGeom>
          <a:solidFill>
            <a:srgbClr val="E31F3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0"/>
            <a:ext cx="10820095" cy="50800"/>
          </a:xfrm>
          <a:prstGeom prst="rect">
            <a:avLst/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09. 기대효과 · 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57575"/>
                </a:solidFill>
                <a:latin typeface="맑은 고딕"/>
                <a:ea typeface="맑은 고딕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맑은 고딕"/>
                <a:ea typeface="맑은 고딕"/>
              </a:rPr>
              <a:t>기대효과 달성 현황 + 향후 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  <a:ea typeface="맑은 고딕"/>
              </a:rPr>
              <a:t>4가지 기대효과를 모두 달성 · 다음 단계로 적용 확대 및 운영 자동화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280160"/>
            <a:ext cx="1371600" cy="0"/>
          </a:xfrm>
          <a:prstGeom prst="line">
            <a:avLst/>
          </a:prstGeom>
          <a:ln w="317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4FB0"/>
                </a:solidFill>
                <a:latin typeface="맑은 고딕"/>
                <a:ea typeface="맑은 고딕"/>
              </a:rPr>
              <a:t>기대효과 달성 현황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2057400"/>
            <a:ext cx="5029200" cy="0"/>
          </a:xfrm>
          <a:prstGeom prst="line">
            <a:avLst/>
          </a:prstGeom>
          <a:ln w="190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57200" y="2313432"/>
            <a:ext cx="320040" cy="320040"/>
          </a:xfrm>
          <a:prstGeom prst="ellipse">
            <a:avLst/>
          </a:prstGeom>
          <a:solidFill>
            <a:srgbClr val="75757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48463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서비스 품질 및 UI/UX 일관성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8463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맑은 고딕"/>
                <a:ea typeface="맑은 고딕"/>
              </a:rPr>
              <a:t>토큰·컴포넌트 통일로 일관된 시각 언어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090672"/>
            <a:ext cx="320040" cy="320040"/>
          </a:xfrm>
          <a:prstGeom prst="ellipse">
            <a:avLst/>
          </a:prstGeom>
          <a:solidFill>
            <a:srgbClr val="75757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8463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단순 UI 수정의 외주 비용 최소화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48463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맑은 고딕"/>
                <a:ea typeface="맑은 고딕"/>
              </a:rPr>
              <a:t>라이브러리 직접 활용으로 외주 의존 탈피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867912"/>
            <a:ext cx="320040" cy="320040"/>
          </a:xfrm>
          <a:prstGeom prst="ellipse">
            <a:avLst/>
          </a:prstGeom>
          <a:solidFill>
            <a:srgbClr val="75757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자체대응으로 개발공수 단축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맑은 고딕"/>
                <a:ea typeface="맑은 고딕"/>
              </a:rPr>
              <a:t>복사-붙여넣기 기반 즉시 구현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645152"/>
            <a:ext cx="320040" cy="320040"/>
          </a:xfrm>
          <a:prstGeom prst="ellipse">
            <a:avLst/>
          </a:prstGeom>
          <a:solidFill>
            <a:srgbClr val="75757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8463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내부 기술 자산 축적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48463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맑은 고딕"/>
                <a:ea typeface="맑은 고딕"/>
              </a:rPr>
              <a:t>버전 관리 가능한 내부 코드베이스 확보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91640"/>
            <a:ext cx="5330952" cy="41605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874520"/>
            <a:ext cx="487375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4FB0"/>
                </a:solidFill>
                <a:latin typeface="맑은 고딕"/>
                <a:ea typeface="맑은 고딕"/>
              </a:rPr>
              <a:t>향후 계획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2240280"/>
            <a:ext cx="4782312" cy="0"/>
          </a:xfrm>
          <a:prstGeom prst="line">
            <a:avLst/>
          </a:prstGeom>
          <a:ln w="19050">
            <a:solidFill>
              <a:srgbClr val="1D6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675120" y="252374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단기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468880"/>
            <a:ext cx="41422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실서비스 적용 확대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761488"/>
            <a:ext cx="414223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신규 프로젝트부터 라이브러리 우선 적용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16382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1D6CE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단기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108960"/>
            <a:ext cx="41422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컴포넌트 추가 발굴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401568"/>
            <a:ext cx="414223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서비스 요구 기반 신규 컴포넌트 보강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80390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중기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749040"/>
            <a:ext cx="41422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사용 통계 수집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041648"/>
            <a:ext cx="414223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컴포넌트별 사용 빈도/이슈 트래킹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44398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중기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389120"/>
            <a:ext cx="41422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다크 모드 · 다국어 토큰 확장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681728"/>
            <a:ext cx="414223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Foundation 단일 소스로 일괄 대응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0840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장기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5029200"/>
            <a:ext cx="41422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AI 보조 자동 생성 강화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5321808"/>
            <a:ext cx="414223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  <a:ea typeface="맑은 고딕"/>
              </a:rPr>
              <a:t>AI 기반 컴포넌트 가이드/스니펫 자동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144FB0"/>
                </a:solidFill>
                <a:latin typeface="맑은 고딕"/>
                <a:ea typeface="맑은 고딕"/>
              </a:rPr>
              <a:t>"제작 중심에서 운영 · 자산 중심으로" 전략을 라이브러리라는 실체로 완성, 이제 운영 단계로 진입합니다.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